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Machado" userId="80069008b23b0dcc" providerId="LiveId" clId="{454814C3-C9AC-4666-ADFE-4952FB0BFFAC}"/>
    <pc:docChg chg="modSld">
      <pc:chgData name="Gabriel Machado" userId="80069008b23b0dcc" providerId="LiveId" clId="{454814C3-C9AC-4666-ADFE-4952FB0BFFAC}" dt="2026-03-26T23:37:17.508" v="3" actId="20578"/>
      <pc:docMkLst>
        <pc:docMk/>
      </pc:docMkLst>
      <pc:sldChg chg="modSp mod">
        <pc:chgData name="Gabriel Machado" userId="80069008b23b0dcc" providerId="LiveId" clId="{454814C3-C9AC-4666-ADFE-4952FB0BFFAC}" dt="2026-03-26T23:16:51.223" v="2" actId="20577"/>
        <pc:sldMkLst>
          <pc:docMk/>
          <pc:sldMk cId="3426174681" sldId="257"/>
        </pc:sldMkLst>
        <pc:spChg chg="mod">
          <ac:chgData name="Gabriel Machado" userId="80069008b23b0dcc" providerId="LiveId" clId="{454814C3-C9AC-4666-ADFE-4952FB0BFFAC}" dt="2026-03-26T23:16:51.223" v="2" actId="20577"/>
          <ac:spMkLst>
            <pc:docMk/>
            <pc:sldMk cId="3426174681" sldId="257"/>
            <ac:spMk id="17" creationId="{619EAB32-1924-5720-0F11-3F6898020BF6}"/>
          </ac:spMkLst>
        </pc:spChg>
      </pc:sldChg>
      <pc:sldChg chg="modSp">
        <pc:chgData name="Gabriel Machado" userId="80069008b23b0dcc" providerId="LiveId" clId="{454814C3-C9AC-4666-ADFE-4952FB0BFFAC}" dt="2026-03-26T23:37:17.508" v="3" actId="20578"/>
        <pc:sldMkLst>
          <pc:docMk/>
          <pc:sldMk cId="2514547183" sldId="258"/>
        </pc:sldMkLst>
        <pc:spChg chg="mod">
          <ac:chgData name="Gabriel Machado" userId="80069008b23b0dcc" providerId="LiveId" clId="{454814C3-C9AC-4666-ADFE-4952FB0BFFAC}" dt="2026-03-26T23:37:17.508" v="3" actId="20578"/>
          <ac:spMkLst>
            <pc:docMk/>
            <pc:sldMk cId="2514547183" sldId="258"/>
            <ac:spMk id="15" creationId="{790F19AF-006B-353F-66B0-09E43A788C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1A605-6396-83E5-5958-60ADA3BBF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09E428-F4F2-B059-E9A8-CC5EFDA8A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A10C6F-F348-0657-96E2-338B89C1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BD28D1-251F-19A3-C895-C2EA3A55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026E1B-F55A-B281-8F76-9968A3105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90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994E0-9F6C-8072-4006-F6DC4744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D3F1F-75DD-876B-F605-61E64CBA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6091D8-702E-368E-F59B-927A909E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5DE58A-BD3A-D248-4844-E20DD3EC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87F86A-FED1-8FCB-4CDD-B40F62F1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314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F43BB-BBDE-A0EF-1AFD-F0B71D1EA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C60D8B-C84D-6C26-73B7-A800E0493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D2A9AC-1C07-409D-0F13-CD02AF76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AEC161-DCAC-34EA-6115-27A319DA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996D93-5EC3-273F-8211-B1902258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38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79DD4-9B6F-2BF2-9975-32940126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1BBEFA-B017-24E7-45B7-DA9FAB9E8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AED821-D8A3-84AB-A6D2-7A40DD33D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EEBF32-3FC6-9BB1-CB1C-7C44A1F1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EF5E16-ABAB-528A-1A68-E86B1198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EC5CB8-447C-B3E4-C586-6D2F2BC4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95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925B3-5C14-6F96-FE54-1FF298B9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216504-4B4B-4483-F1BF-F2744A2B8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5B85A8-4EBE-CA15-B726-99D7EAE1B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6ACC34-C225-094C-5211-02D95359D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006819-19D4-94DA-19EC-E2C2846A3D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50FC634-FC30-6D4A-382C-7FCDA203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C0E7B6-2F47-82A5-5C81-AA24747A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E84FDD-55D4-6F43-06A7-07AC6841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89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AA0E6-89BF-DB3A-AF9E-CDBF133C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C347EF-4557-25F6-CC88-438A025F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FF2123-EF7B-08ED-7079-5DA19160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DB6D27-6529-6A30-509C-45C778AB1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20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855774-2903-2736-5A47-664778438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4F2E66-A447-BFAC-E98B-5DFD2C01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FD08BB-7DCD-BF4F-5170-CA513A97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93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C64F8-DB84-0126-8C35-61237A40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511DD-05C5-562A-3F01-1D31B47E9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4AC1B3-D8AE-0F8F-0E28-7FDFC75E1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3CC64C-9A68-CED1-DB0D-26325331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977ABE-86CE-3D4E-6B34-8788687D6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52F967-9A45-19B8-87D5-BE47A4ED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16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572F5-630F-5148-7C8E-D7CEEAE97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5431B8E-EF7C-F12A-B55A-08BD7302E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21CAA6-A53B-1919-088F-D826A1633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887C70-B25F-ED5E-9A6E-18D3B4C1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8E4E83-C661-3141-57C4-A2365CF4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C7CDF4-DF2D-CF4F-C31A-4B9CA23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43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2C380-8637-5FA0-0108-048124CF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347F7C-94C5-5762-A931-36A8C09B2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B06CCD-998C-3309-6F29-356C16CE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0383B0-EC4E-21FF-AEC7-39A51945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059685-1230-D7BC-63B4-F9C03688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96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174CC8-CE9E-B392-03C2-22688C331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A8EA9F-A12F-8227-0656-392EC344D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DA7CB3-28A8-E04B-C203-6E4EC242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C13D8E-2E6D-E160-4328-694AADA1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24C430-071F-85AD-6D42-53A70E174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05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239883-8911-0D78-928A-2910C92A5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898E32-9AF8-E7F1-299A-6A9824496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045D11-CA27-2DF1-C66A-7A3B15D7B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4B966-3B1D-49BF-89FF-00DFE8D31BA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58047C-A6E5-5591-4535-2556BF3D9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3AB758-1BDA-A644-C99B-790365651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F2060-D819-4023-B9C6-0D9029E973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12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5B5E4-D916-2286-6C91-DD696C99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dirty="0" err="1"/>
              <a:t>Chatbot</a:t>
            </a:r>
            <a:r>
              <a:rPr lang="pt-BR" sz="4400" dirty="0"/>
              <a:t> WhatsApp – </a:t>
            </a:r>
            <a:r>
              <a:rPr lang="pt-BR" sz="4400" dirty="0" err="1"/>
              <a:t>SmartFlow</a:t>
            </a:r>
            <a:r>
              <a:rPr lang="pt-BR" sz="4400" dirty="0"/>
              <a:t> 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B91720-B04B-AAD0-8B67-F8BC2BCA8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88" y="2153735"/>
            <a:ext cx="4542458" cy="39344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Linguagem Principal: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Python (3.14+):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É o coração de todo o sistema. Tanto o robô do WhatsApp quanto o painel web foram escritos em Python.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Inteligência Artificial e NLP: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Usado para gerenciar a memória da conversa (para 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bot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não ter amnésia) e orquestrar os prompts.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Google Gemini/OpenAI: Os "cérebros" 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LLMs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 que geram as respostas humanizadas e interpretam as dúvidas dos usuários.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e API (O Motor do Robô)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Um dos frameworks mais rápidos do mercado para construir APIs em Python. É ele que cria a rota (/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webhook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 ultrarrápida para receber as mensagens do WhatsApp em tempo real.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Uvicorn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O servidor web super veloz que roda 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e mantém a sua aplicação no ar.</a:t>
            </a:r>
          </a:p>
          <a:p>
            <a:pPr marL="457200" lvl="1" indent="0"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6473C01-12B1-E78B-DDA7-5155EF3E20AC}"/>
              </a:ext>
            </a:extLst>
          </p:cNvPr>
          <p:cNvCxnSpPr>
            <a:cxnSpLocks/>
          </p:cNvCxnSpPr>
          <p:nvPr/>
        </p:nvCxnSpPr>
        <p:spPr>
          <a:xfrm>
            <a:off x="5088296" y="1738523"/>
            <a:ext cx="0" cy="47649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4C541EDE-9944-63CE-97DD-C4D8546BCA5E}"/>
              </a:ext>
            </a:extLst>
          </p:cNvPr>
          <p:cNvSpPr txBox="1">
            <a:spLocks/>
          </p:cNvSpPr>
          <p:nvPr/>
        </p:nvSpPr>
        <p:spPr>
          <a:xfrm>
            <a:off x="5337110" y="1731040"/>
            <a:ext cx="6447452" cy="50168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Painel Administrativo (A Vitrine SaaS)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microframework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usado para construir o painel web onde os clientes gerenciam os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bots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Jinja2: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que junta o código Python com o visual do site (HTML).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HTML5, CSS3 &amp;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4: A base visual que deixa o painel bonito, responsivo e com a barra lateral profissional.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&amp; Popper.js): Dá vida aos botões, menus expansíveis e interações na tela.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Banco de Dados e Segurança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PostgreSQL: O banco de dados relacional robusto onde tudo fica salvo.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A plataforma em nuvem 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BaaS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 que está hospedando o PostgreSQL na internet.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&amp; psycopg2: As ferramentas (ORM e Driver) que permitem ao Python conversar com o banco de dados sem precisar escrever linhas puras de código SQL.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Cryptography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Fernet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): A biblioteca de segurança que criptografa as chaves de API.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Integrações e Ambiente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Webhooks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A ponte de comunicação com o WhatsApp.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&amp; GitHub: Para controle de versão e salvamento do código.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VS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O ambiente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541017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 descr="Interface gráfica do usuário, Texto, Aplicativo, chat ou mensagem de texto&#10;&#10;Descrição gerada automaticamente">
            <a:extLst>
              <a:ext uri="{FF2B5EF4-FFF2-40B4-BE49-F238E27FC236}">
                <a16:creationId xmlns:a16="http://schemas.microsoft.com/office/drawing/2014/main" id="{8A22EC21-1437-467A-B79F-88995E254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99" y="1397993"/>
            <a:ext cx="2802922" cy="5026837"/>
          </a:xfrm>
        </p:spPr>
      </p:pic>
      <p:sp>
        <p:nvSpPr>
          <p:cNvPr id="5" name="AutoShape 4" descr="Imagem selecionada apresentada em um lightbox.">
            <a:extLst>
              <a:ext uri="{FF2B5EF4-FFF2-40B4-BE49-F238E27FC236}">
                <a16:creationId xmlns:a16="http://schemas.microsoft.com/office/drawing/2014/main" id="{D978312A-B7A2-B31E-E651-1D0AD1BBF7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790F19AF-006B-353F-66B0-09E43A788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219" y="1355153"/>
            <a:ext cx="790303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pt-BR" altLang="pt-BR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vscode</a:t>
            </a: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 e </a:t>
            </a:r>
            <a:r>
              <a:rPr lang="pt-BR" altLang="pt-BR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ambientevirtual</a:t>
            </a: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Configurações do editor e a caixa isolada do Python (onde ficam as bibliotecas instaladas).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app/</a:t>
            </a:r>
            <a:r>
              <a:rPr lang="pt-BR" altLang="pt-BR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/connection.py: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o “cabo” que liga o código ao banco de dados (através 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psycopg2 para integrar com o PostgreSQL/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app/</a:t>
            </a:r>
            <a:r>
              <a:rPr lang="pt-BR" altLang="pt-BR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/models.py: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o "molde" das tabelas. Aqui é onde define como é a tabela de Leads (nome, telefone), a tabela de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(telefone 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modelo, status) e a de Prompts.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app/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manipulations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Aqui ficam as “funções do arquivo".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ia_manipulations.py: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Arquivo que contém as funções para buscar, criar ou editar as configurações da IA no banco.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lead_manipulations.py: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Funções para salvar um novo calouro, buscar o histórico dele ou atualizar a conversa.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__init__.py: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O "crachá" de identificação do Python que serve para avisar ao sistema que uma pasta é um pacote de códigos, permitindo a importação de funções entre diretórios.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619EAB32-1924-5720-0F11-3F6898020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14" y="432899"/>
            <a:ext cx="62199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Núcleo de Dados (app/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51454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Imagem selecionada apresentada em um lightbox.">
            <a:extLst>
              <a:ext uri="{FF2B5EF4-FFF2-40B4-BE49-F238E27FC236}">
                <a16:creationId xmlns:a16="http://schemas.microsoft.com/office/drawing/2014/main" id="{D978312A-B7A2-B31E-E651-1D0AD1BBF7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790F19AF-006B-353F-66B0-09E43A788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43" y="1504438"/>
            <a:ext cx="790303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app/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routers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/webhook.py: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a porta da rua. Quando o WhatsApp da Z-API/Evolution API recebe uma mensagem do calouro, ele bate exatamente nessa porta para avisar o seu sistema.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app/</a:t>
            </a:r>
            <a:r>
              <a:rPr lang="pt-BR" altLang="pt-BR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o cérebro das operações. (Seria o motor do projeto)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pt-BR" altLang="pt-BR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llm_response.py: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ele quem pega a mensagem, conecta com o Gemini/OpenAI, injeta o histórico e gera a resposta inteligente.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pt-BR" altLang="pt-BR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process.py: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“maestro”. Ele recebe do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webhook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busca o lead nas manipulações, manda pro LLM e devolve a resposta final.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pt-BR" altLang="pt-BR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queue_manager.py: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"segurança da fila". Ele garante que se o aluno mandar 4 mensagens em 2 segundos, 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não enlouqueça e processe uma por uma.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pt-BR" altLang="pt-BR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crypto.py: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“cofre de segurança”. Usado para criptografar as chaves de API no banco de dados para ninguém roubar.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pt-BR" altLang="pt-BR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quebra_ mensagem.py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função para dividir textos muito grandes antes de mandar pro WhatsApp.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app/main.py: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botão de "Ligar". É ele que junta os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routers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sobe o servidor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619EAB32-1924-5720-0F11-3F6898020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755" y="432131"/>
            <a:ext cx="84176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rotas e o Cérebro (app/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routers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app/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3" name="Espaço Reservado para Conteúdo 22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9E133B12-50F5-2A70-804E-9E157EF50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03" y="1504438"/>
            <a:ext cx="2634342" cy="5015894"/>
          </a:xfrm>
        </p:spPr>
      </p:pic>
    </p:spTree>
    <p:extLst>
      <p:ext uri="{BB962C8B-B14F-4D97-AF65-F5344CB8AC3E}">
        <p14:creationId xmlns:p14="http://schemas.microsoft.com/office/powerpoint/2010/main" val="342617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Imagem selecionada apresentada em um lightbox.">
            <a:extLst>
              <a:ext uri="{FF2B5EF4-FFF2-40B4-BE49-F238E27FC236}">
                <a16:creationId xmlns:a16="http://schemas.microsoft.com/office/drawing/2014/main" id="{D978312A-B7A2-B31E-E651-1D0AD1BBF7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790F19AF-006B-353F-66B0-09E43A788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0951" y="1264760"/>
            <a:ext cx="8500188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interface/app/app.py: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arquivo principal que roda o painel visual (em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interface/app/crypto.py: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cofre de segurança que serve para proteger o SaaS criptografando as chaves de API dos clientes antes de salvá-las no banco de dados.</a:t>
            </a:r>
            <a:endParaRPr kumimoji="0" lang="pt-BR" altLang="pt-BR" b="1" i="0" u="none" strike="noStrike" cap="none" normalizeH="0" baseline="0" dirty="0">
              <a:ln>
                <a:noFill/>
              </a:ln>
              <a:effectLst/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interface/app/models_secondary.py: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mapa do banco de dados 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que serve para conectar a interface web ao PostgreSQL, gerenciando a leitura e gravação das tabelas de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IAs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Prompts e Leads.</a:t>
            </a:r>
            <a:endParaRPr kumimoji="0" lang="pt-BR" altLang="pt-BR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interface/app/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/: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Onde ficam os arquivos de design (</a:t>
            </a:r>
            <a:r>
              <a:rPr lang="pt-BR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) e as imagens (</a:t>
            </a:r>
            <a:r>
              <a:rPr lang="pt-BR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) do site.</a:t>
            </a:r>
            <a:endParaRPr kumimoji="0" lang="pt-BR" altLang="pt-BR" b="1" i="0" u="none" strike="noStrike" cap="none" normalizeH="0" baseline="0" dirty="0">
              <a:ln>
                <a:noFill/>
              </a:ln>
              <a:effectLst/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interface/app/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/: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As páginas em HTML que o “dono do negócio” vai acessar.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base.html: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"chassi visual" do painel web (Jinja2/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que serve para carregar o layout e menu padrão uma única vez, evitando a repetição de código nas outras páginas.</a:t>
            </a:r>
            <a:endParaRPr lang="pt-BR" altLang="pt-B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index.html: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A página inicial do dashboard. (</a:t>
            </a:r>
            <a:r>
              <a:rPr lang="pt-BR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IAs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lead.html: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A tela onde consegue ver a lista de alunos/clientes que conversaram com o bot.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prompt.html: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tela de "Editar IA" (Onde cola a chave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API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 Gemini ou ChatGPT, seta o modelo da IA, dentre outra coisas).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619EAB32-1924-5720-0F11-3F6898020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0951" y="430950"/>
            <a:ext cx="50652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vitrine do SaaS (/interface)</a:t>
            </a:r>
          </a:p>
        </p:txBody>
      </p:sp>
      <p:pic>
        <p:nvPicPr>
          <p:cNvPr id="6" name="Espaço Reservado para Conteúdo 5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66707C91-2A2A-AA6E-23DE-A0577A452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" y="1334278"/>
            <a:ext cx="2601257" cy="5082085"/>
          </a:xfrm>
        </p:spPr>
      </p:pic>
    </p:spTree>
    <p:extLst>
      <p:ext uri="{BB962C8B-B14F-4D97-AF65-F5344CB8AC3E}">
        <p14:creationId xmlns:p14="http://schemas.microsoft.com/office/powerpoint/2010/main" val="427749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Imagem selecionada apresentada em um lightbox.">
            <a:extLst>
              <a:ext uri="{FF2B5EF4-FFF2-40B4-BE49-F238E27FC236}">
                <a16:creationId xmlns:a16="http://schemas.microsoft.com/office/drawing/2014/main" id="{D978312A-B7A2-B31E-E651-1D0AD1BBF7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790F19AF-006B-353F-66B0-09E43A788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43" y="1642933"/>
            <a:ext cx="790303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e .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env.dev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São os cofres das senhas (URL do banco de dados, chaves de criptografia. Há um de produção e um de desenvolvimento (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onde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é usado apenas quando você está programando no seu computador.</a:t>
            </a:r>
            <a:endParaRPr kumimoji="0" lang="pt-BR" altLang="pt-BR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gitignore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lista negra do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Avisa pro GitHub não subir as pastas pesadas (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ambientevirtual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e nem os arquivos de senha (.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requirements.txt: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/>
              <a:t>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"lista de dependências". Ela instala todo o ecossistema do painel web: o </a:t>
            </a:r>
            <a:r>
              <a:rPr lang="pt-BR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(para rodar o site), o </a:t>
            </a:r>
            <a:r>
              <a:rPr lang="pt-BR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Flask-Login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(para autenticação de usuários), o </a:t>
            </a:r>
            <a:r>
              <a:rPr lang="pt-BR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pt-BR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/psycopg2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(para conversar com o banco PostgreSQL) e o </a:t>
            </a:r>
            <a:r>
              <a:rPr lang="pt-BR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cryptography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(para proteger as chaves de API)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README.md: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manual de instruções do projeto.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send_message.json</a:t>
            </a:r>
            <a:r>
              <a:rPr lang="pt-BR" alt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"simulador" do WhatsApp. É um modelo exato do JSON que a API dispara para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webhook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quando um aluno manda mensagem. Basicamente ele serve para testar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bot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no próprio computador sem precisar pegar no celular!</a:t>
            </a:r>
            <a:endParaRPr kumimoji="0" lang="pt-BR" altLang="pt-BR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619EAB32-1924-5720-0F11-3F6898020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879" y="524256"/>
            <a:ext cx="8071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As Engrenagens do Servidor (Raiz do Projeto)</a:t>
            </a:r>
            <a:endParaRPr kumimoji="0" lang="pt-BR" altLang="pt-BR" sz="28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Espaço Reservado para Conteúdo 6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9E2C0823-8E5A-A386-FBF5-1259BC014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27" y="1847650"/>
            <a:ext cx="2960822" cy="4486094"/>
          </a:xfrm>
        </p:spPr>
      </p:pic>
    </p:spTree>
    <p:extLst>
      <p:ext uri="{BB962C8B-B14F-4D97-AF65-F5344CB8AC3E}">
        <p14:creationId xmlns:p14="http://schemas.microsoft.com/office/powerpoint/2010/main" val="3524216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1242</Words>
  <Application>Microsoft Office PowerPoint</Application>
  <PresentationFormat>Widescreen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Tema do Office</vt:lpstr>
      <vt:lpstr>Chatbot WhatsApp – SmartFlow IA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Machado</dc:creator>
  <cp:lastModifiedBy>Gabriel Machado</cp:lastModifiedBy>
  <cp:revision>1</cp:revision>
  <dcterms:created xsi:type="dcterms:W3CDTF">2026-03-26T12:17:10Z</dcterms:created>
  <dcterms:modified xsi:type="dcterms:W3CDTF">2026-03-27T00:28:19Z</dcterms:modified>
</cp:coreProperties>
</file>