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0728"/>
    <a:srgbClr val="0D0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16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35599"/>
            <a:ext cx="7556421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SmartFlow AI: A Evolução do Atendimento no WhatsApp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50854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plataforma SaaS de bot conversacional com IA , construída para substituir menus engessados por experiências reais, inteligentes e escaláveis.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60018"/>
            <a:ext cx="2447092" cy="426244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5982414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2055" y="5928003"/>
            <a:ext cx="19027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CONVERSACIONAL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354229" y="5852398"/>
            <a:ext cx="210943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876CD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97937" y="5982414"/>
            <a:ext cx="181451" cy="181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70114" y="5928003"/>
            <a:ext cx="154983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SAAS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579" y="576858"/>
            <a:ext cx="7878842" cy="1186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Dor Atual: Bots que Não Conversam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02444" y="1978938"/>
            <a:ext cx="3979188" cy="5673804"/>
          </a:xfrm>
          <a:prstGeom prst="roundRect">
            <a:avLst>
              <a:gd name="adj" fmla="val 3271"/>
            </a:avLst>
          </a:prstGeom>
          <a:solidFill>
            <a:srgbClr val="14083A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83181" y="2122884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 Problema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83181" y="2563416"/>
            <a:ext cx="3617714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humano lento demais ou bots rígidos baseados em menus fixos </a:t>
            </a: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"Digite 1 para Vendas, Digite 2 para Suporte."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cliente já desistiu antes do terceiro passo.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00124" y="2122884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 Consequências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800124" y="2581394"/>
            <a:ext cx="3718917" cy="1627108"/>
          </a:xfrm>
          <a:prstGeom prst="roundRect">
            <a:avLst>
              <a:gd name="adj" fmla="val 6744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64" y="2581394"/>
            <a:ext cx="91440" cy="16271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72301" y="2784991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Clientes Frustrados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072301" y="3225522"/>
            <a:ext cx="324314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 fora de contexto e fluxos quebrados geram abandono imediato.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800124" y="4352449"/>
            <a:ext cx="3718917" cy="1367314"/>
          </a:xfrm>
          <a:prstGeom prst="roundRect">
            <a:avLst>
              <a:gd name="adj" fmla="val 802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264" y="4352449"/>
            <a:ext cx="91440" cy="13673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2301" y="4556046"/>
            <a:ext cx="264997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Oportunidades Perdidas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5072301" y="4996577"/>
            <a:ext cx="324314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quentes não capturados fora do horário comercial.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800124" y="5863709"/>
            <a:ext cx="3718917" cy="1627108"/>
          </a:xfrm>
          <a:prstGeom prst="roundRect">
            <a:avLst>
              <a:gd name="adj" fmla="val 6744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264" y="5863709"/>
            <a:ext cx="91440" cy="16271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072301" y="6067306"/>
            <a:ext cx="2372320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 Oculto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5072301" y="6507837"/>
            <a:ext cx="324314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Equipes sobrecarregadas respondendo manualmente perguntas repetitivas.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19958"/>
            <a:ext cx="10890409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Conversas Fluídas, Não Árvores de Decisão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44260" y="1716286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SmartFlow AI foi construído do zero com </a:t>
            </a:r>
            <a:r>
              <a:rPr lang="en-US" sz="16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+ LLM</a:t>
            </a: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entender contexto, memória e intenção: conversando como um humano de verdade.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2599611"/>
            <a:ext cx="6471285" cy="2405301"/>
          </a:xfrm>
          <a:prstGeom prst="roundRect">
            <a:avLst>
              <a:gd name="adj" fmla="val 37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25" y="2819876"/>
            <a:ext cx="637937" cy="63793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9904" y="2995255"/>
            <a:ext cx="287060" cy="2870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4525" y="3657124"/>
            <a:ext cx="323302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Compreensão Contextual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64525" y="4125516"/>
            <a:ext cx="60307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mantém o fio da conversa, sem perder o contexto entre mensagens.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14855" y="2599611"/>
            <a:ext cx="6471285" cy="2405301"/>
          </a:xfrm>
          <a:prstGeom prst="roundRect">
            <a:avLst>
              <a:gd name="adj" fmla="val 37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121" y="2819876"/>
            <a:ext cx="637937" cy="63793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500" y="2995255"/>
            <a:ext cx="287060" cy="2870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35121" y="365712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Atendimento 24/7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7635121" y="4125516"/>
            <a:ext cx="60307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 continuamente, capturando leads e resolvendo dúvidas a qualquer hora.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744260" y="5204222"/>
            <a:ext cx="6471285" cy="2405301"/>
          </a:xfrm>
          <a:prstGeom prst="roundRect">
            <a:avLst>
              <a:gd name="adj" fmla="val 37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525" y="5424488"/>
            <a:ext cx="637937" cy="637937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9904" y="5599867"/>
            <a:ext cx="287060" cy="28706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4525" y="626173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Captação Automática</a:t>
            </a:r>
            <a:endParaRPr lang="en-US" sz="2150" dirty="0"/>
          </a:p>
        </p:txBody>
      </p:sp>
      <p:sp>
        <p:nvSpPr>
          <p:cNvPr id="18" name="Text 10"/>
          <p:cNvSpPr/>
          <p:nvPr/>
        </p:nvSpPr>
        <p:spPr>
          <a:xfrm>
            <a:off x="964525" y="6730127"/>
            <a:ext cx="60307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e registra leads qualificados direto no banco de dados.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7414855" y="5204222"/>
            <a:ext cx="6471285" cy="2405301"/>
          </a:xfrm>
          <a:prstGeom prst="roundRect">
            <a:avLst>
              <a:gd name="adj" fmla="val 37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121" y="5424488"/>
            <a:ext cx="637937" cy="637937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10500" y="5599867"/>
            <a:ext cx="287060" cy="28706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35121" y="626173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Experiência Superior</a:t>
            </a:r>
            <a:endParaRPr lang="en-US" sz="2150" dirty="0"/>
          </a:p>
        </p:txBody>
      </p:sp>
      <p:sp>
        <p:nvSpPr>
          <p:cNvPr id="23" name="Text 13"/>
          <p:cNvSpPr/>
          <p:nvPr/>
        </p:nvSpPr>
        <p:spPr>
          <a:xfrm>
            <a:off x="7635121" y="6730127"/>
            <a:ext cx="603075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 naturais que elevam a percepção da marca e aumentam conversão.</a:t>
            </a:r>
            <a:endParaRPr lang="en-US" sz="1650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88DAAFD-37C2-D013-4250-F6D21B9E0FE6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8291" y="554117"/>
            <a:ext cx="1765459" cy="284559"/>
          </a:xfrm>
          <a:prstGeom prst="roundRect">
            <a:avLst>
              <a:gd name="adj" fmla="val 19669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1668185" y="604004"/>
            <a:ext cx="1565672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TÉCNICA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68291" y="887492"/>
            <a:ext cx="6441281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Um Cérebro Robusto e Separado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291" y="2278380"/>
            <a:ext cx="6138624" cy="47361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94448" y="4413092"/>
            <a:ext cx="1070621" cy="42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Distribuída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147661" y="5734639"/>
            <a:ext cx="1592739" cy="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Supabase PostgreSQL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47661" y="6318366"/>
            <a:ext cx="1592739" cy="33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 na nuvem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2643" y="4167877"/>
            <a:ext cx="1627556" cy="51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LangChain / LLM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2643" y="4751605"/>
            <a:ext cx="1627556" cy="33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Orquestração e processamento 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92869" y="5863162"/>
            <a:ext cx="1592739" cy="25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FERNET_KEY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492869" y="6189843"/>
            <a:ext cx="1592739" cy="33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Criptografia de dados sensíveis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9182" y="4287696"/>
            <a:ext cx="1627556" cy="25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Interface Flask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09182" y="4614377"/>
            <a:ext cx="1627556" cy="33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gerencial para leads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81096" y="2655652"/>
            <a:ext cx="1636260" cy="25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Motor FastAPI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81096" y="2982333"/>
            <a:ext cx="1636260" cy="339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Webhooks, IA e criptografia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20777" y="1755100"/>
            <a:ext cx="4948714" cy="1923098"/>
          </a:xfrm>
          <a:prstGeom prst="roundRect">
            <a:avLst>
              <a:gd name="adj" fmla="val 3638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43637" y="1777960"/>
            <a:ext cx="4902994" cy="499705"/>
          </a:xfrm>
          <a:prstGeom prst="roundRect">
            <a:avLst>
              <a:gd name="adj" fmla="val 8511"/>
            </a:avLst>
          </a:prstGeom>
          <a:solidFill>
            <a:srgbClr val="2F1D63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0237" y="1899047"/>
            <a:ext cx="249793" cy="24979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10205" y="2399943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Motor — FastAPI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8310205" y="2795468"/>
            <a:ext cx="4569857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 webhooks do WhatsApp, orquestra o LLM via LangChain e criptografa dados sensíveis com </a:t>
            </a:r>
            <a:r>
              <a:rPr lang="en-US" sz="1300" dirty="0">
                <a:solidFill>
                  <a:srgbClr val="E0D6DE"/>
                </a:solidFill>
                <a:highlight>
                  <a:srgbClr val="19123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FERNET_KEY</a:t>
            </a: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120777" y="3800475"/>
            <a:ext cx="4948714" cy="1691997"/>
          </a:xfrm>
          <a:prstGeom prst="roundRect">
            <a:avLst>
              <a:gd name="adj" fmla="val 4135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43637" y="3823335"/>
            <a:ext cx="4902994" cy="499705"/>
          </a:xfrm>
          <a:prstGeom prst="roundRect">
            <a:avLst>
              <a:gd name="adj" fmla="val 8511"/>
            </a:avLst>
          </a:prstGeom>
          <a:solidFill>
            <a:srgbClr val="2F1D63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0237" y="3944422"/>
            <a:ext cx="249793" cy="2497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10205" y="4445318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Interface — Flask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310205" y="4840843"/>
            <a:ext cx="4569857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Painel gerencial visual para o cliente: visualização de leads, status de conexão e configurações.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120777" y="5614749"/>
            <a:ext cx="4948714" cy="1923098"/>
          </a:xfrm>
          <a:prstGeom prst="roundRect">
            <a:avLst>
              <a:gd name="adj" fmla="val 3638"/>
            </a:avLst>
          </a:prstGeom>
          <a:solidFill>
            <a:srgbClr val="0C0524">
              <a:alpha val="95000"/>
            </a:srgbClr>
          </a:solidFill>
          <a:ln w="22860">
            <a:solidFill>
              <a:srgbClr val="48367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143637" y="5637609"/>
            <a:ext cx="4902994" cy="499705"/>
          </a:xfrm>
          <a:prstGeom prst="roundRect">
            <a:avLst>
              <a:gd name="adj" fmla="val 8511"/>
            </a:avLst>
          </a:prstGeom>
          <a:solidFill>
            <a:srgbClr val="2F1D63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70237" y="5758696"/>
            <a:ext cx="249793" cy="24979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310205" y="6259592"/>
            <a:ext cx="218622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Banco — Supabase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310205" y="6655118"/>
            <a:ext cx="4569857" cy="69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gerenciado na nuvem. Persistência, segurança e acesso em tempo real sem complexidade operacional.</a:t>
            </a:r>
            <a:endParaRPr lang="en-US" sz="1300" dirty="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082DB4A-1085-3364-07AC-06C2EFC81BE9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72283"/>
            <a:ext cx="3801070" cy="426244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140267"/>
            <a:ext cx="352889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PRONTA E RODANDO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589252"/>
            <a:ext cx="891182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Infraestrutura Pronta e Rodando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793790" y="3673673"/>
            <a:ext cx="4196358" cy="2483525"/>
          </a:xfrm>
          <a:prstGeom prst="roundRect">
            <a:avLst>
              <a:gd name="adj" fmla="val 5891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673673"/>
            <a:ext cx="121920" cy="24835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3930968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Validação de Fluxo de Mensagem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142524" y="481119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Recebimento, processamento com LangChain/LLM e geração de resposta.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673673"/>
            <a:ext cx="4196358" cy="2483525"/>
          </a:xfrm>
          <a:prstGeom prst="roundRect">
            <a:avLst>
              <a:gd name="adj" fmla="val 5891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673673"/>
            <a:ext cx="121920" cy="24835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65696" y="39309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Leads: 3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565696" y="443912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reais salvos com segurança de criptografia Fernet.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673673"/>
            <a:ext cx="4196358" cy="2483525"/>
          </a:xfrm>
          <a:prstGeom prst="roundRect">
            <a:avLst>
              <a:gd name="adj" fmla="val 5891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673673"/>
            <a:ext cx="121920" cy="24835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88868" y="3930968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Equipe Integrada: Guia e .env Configurados</a:t>
            </a:r>
            <a:endParaRPr lang="en-US" sz="2300" dirty="0"/>
          </a:p>
        </p:txBody>
      </p:sp>
      <p:sp>
        <p:nvSpPr>
          <p:cNvPr id="16" name="Text 11"/>
          <p:cNvSpPr/>
          <p:nvPr/>
        </p:nvSpPr>
        <p:spPr>
          <a:xfrm>
            <a:off x="9988868" y="481119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de Pull Request definido na branch dev do GitHub.</a:t>
            </a:r>
            <a:endParaRPr lang="en-US" sz="175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945443E-35D1-9C64-D1E9-B966C834E97F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71086"/>
            <a:ext cx="2356247" cy="426244"/>
          </a:xfrm>
          <a:prstGeom prst="roundRect">
            <a:avLst>
              <a:gd name="adj" fmla="val 17880"/>
            </a:avLst>
          </a:prstGeom>
          <a:solidFill>
            <a:srgbClr val="1C113B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39071"/>
            <a:ext cx="20840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DE IMPACTO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88056"/>
            <a:ext cx="94571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 Que a IA Conversacional Entrega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793790" y="2785824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24/7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495074" y="381762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Disponibilidade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93790" y="4325779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interrupções, sem escalas: atendimento contínuo.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2785824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~3x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9061728" y="3817620"/>
            <a:ext cx="3170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Mais Leads Capturados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56884" y="4325779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Comparado a fluxos manuais fora do horário comercial.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255657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&lt;1s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2495074" y="6287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Tempo de Resposta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93790" y="679561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Latência de geração de resposta via LLM otimizado.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456884" y="5255657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8863013" y="6287453"/>
            <a:ext cx="35674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Servidores Independentes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456884" y="679561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Isolamento total entre lógica de IA e interface do cliente.</a:t>
            </a:r>
            <a:endParaRPr lang="en-US" sz="175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C7F5893-76BB-4A79-8B7A-DA5424794F47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73787"/>
            <a:ext cx="8126492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Rumo à Escala e Humanização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81407" y="1945958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roadmap é direto: aumentar a naturalidade das conversas, a profundidade de memória da IA e a resiliência da infraestrutura.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407" y="5355908"/>
            <a:ext cx="13067586" cy="30480"/>
          </a:xfrm>
          <a:prstGeom prst="roundRect">
            <a:avLst>
              <a:gd name="adj" fmla="val 307674"/>
            </a:avLst>
          </a:prstGeom>
          <a:solidFill>
            <a:srgbClr val="48367C"/>
          </a:solidFill>
          <a:ln/>
        </p:spPr>
      </p:sp>
      <p:sp>
        <p:nvSpPr>
          <p:cNvPr id="5" name="Shape 3"/>
          <p:cNvSpPr/>
          <p:nvPr/>
        </p:nvSpPr>
        <p:spPr>
          <a:xfrm>
            <a:off x="3297079" y="4686121"/>
            <a:ext cx="30480" cy="669846"/>
          </a:xfrm>
          <a:prstGeom prst="roundRect">
            <a:avLst>
              <a:gd name="adj" fmla="val 307674"/>
            </a:avLst>
          </a:prstGeom>
          <a:solidFill>
            <a:srgbClr val="48367C"/>
          </a:solidFill>
          <a:ln/>
        </p:spPr>
      </p:sp>
      <p:sp>
        <p:nvSpPr>
          <p:cNvPr id="6" name="Shape 4"/>
          <p:cNvSpPr/>
          <p:nvPr/>
        </p:nvSpPr>
        <p:spPr>
          <a:xfrm>
            <a:off x="3061216" y="5104745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36523" y="5136059"/>
            <a:ext cx="351592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750" dirty="0"/>
          </a:p>
        </p:txBody>
      </p:sp>
      <p:sp>
        <p:nvSpPr>
          <p:cNvPr id="8" name="Text 6"/>
          <p:cNvSpPr/>
          <p:nvPr/>
        </p:nvSpPr>
        <p:spPr>
          <a:xfrm>
            <a:off x="1457682" y="2901791"/>
            <a:ext cx="3709511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Agora — UX Conversacional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4649" y="3399830"/>
            <a:ext cx="461569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inteligente de digitação e quebra automática de mensagens longas para simular naturalidade humana.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65508" y="5355848"/>
            <a:ext cx="30480" cy="669846"/>
          </a:xfrm>
          <a:prstGeom prst="roundRect">
            <a:avLst>
              <a:gd name="adj" fmla="val 307674"/>
            </a:avLst>
          </a:prstGeom>
          <a:solidFill>
            <a:srgbClr val="48367C"/>
          </a:solidFill>
          <a:ln/>
        </p:spPr>
      </p:sp>
      <p:sp>
        <p:nvSpPr>
          <p:cNvPr id="11" name="Shape 9"/>
          <p:cNvSpPr/>
          <p:nvPr/>
        </p:nvSpPr>
        <p:spPr>
          <a:xfrm>
            <a:off x="5729645" y="5104745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4952" y="5136059"/>
            <a:ext cx="351592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750" dirty="0"/>
          </a:p>
        </p:txBody>
      </p:sp>
      <p:sp>
        <p:nvSpPr>
          <p:cNvPr id="13" name="Text 11"/>
          <p:cNvSpPr/>
          <p:nvPr/>
        </p:nvSpPr>
        <p:spPr>
          <a:xfrm>
            <a:off x="3706535" y="6248995"/>
            <a:ext cx="4548664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Curto Prazo — Memória Avançada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673078" y="6747034"/>
            <a:ext cx="46156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Compressão de contexto para que a IA não perca o histórico em conversas longas.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633936" y="4686121"/>
            <a:ext cx="30480" cy="669846"/>
          </a:xfrm>
          <a:prstGeom prst="roundRect">
            <a:avLst>
              <a:gd name="adj" fmla="val 307674"/>
            </a:avLst>
          </a:prstGeom>
          <a:solidFill>
            <a:srgbClr val="48367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98073" y="5104745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380" y="5136059"/>
            <a:ext cx="351592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750" dirty="0"/>
          </a:p>
        </p:txBody>
      </p:sp>
      <p:sp>
        <p:nvSpPr>
          <p:cNvPr id="18" name="Text 16"/>
          <p:cNvSpPr/>
          <p:nvPr/>
        </p:nvSpPr>
        <p:spPr>
          <a:xfrm>
            <a:off x="6453187" y="2901791"/>
            <a:ext cx="439233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Médio Prazo — Multimodalidade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341507" y="3399830"/>
            <a:ext cx="461569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a áudio (transcrição) e imagem , bot entendendo e respondendo além do texto.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11302365" y="5355848"/>
            <a:ext cx="30480" cy="669846"/>
          </a:xfrm>
          <a:prstGeom prst="roundRect">
            <a:avLst>
              <a:gd name="adj" fmla="val 307674"/>
            </a:avLst>
          </a:prstGeom>
          <a:solidFill>
            <a:srgbClr val="48367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66502" y="5104745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41809" y="5136059"/>
            <a:ext cx="351592" cy="43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750" dirty="0"/>
          </a:p>
        </p:txBody>
      </p:sp>
      <p:sp>
        <p:nvSpPr>
          <p:cNvPr id="23" name="Text 21"/>
          <p:cNvSpPr/>
          <p:nvPr/>
        </p:nvSpPr>
        <p:spPr>
          <a:xfrm>
            <a:off x="9305568" y="6248995"/>
            <a:ext cx="4024432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Produção — Deploy Cloud 24h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009936" y="6747034"/>
            <a:ext cx="46156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Servidores FastAPI e Flask em nuvem com uptime garantido, e SSL configurados.</a:t>
            </a:r>
            <a:endParaRPr lang="en-US" sz="1750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6F9F105-4E19-00CB-B2D4-97C5A8B618C4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426012"/>
            <a:ext cx="5564862" cy="31533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19674" y="1239917"/>
            <a:ext cx="6924437" cy="223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Segurança e Confiabilidade por Design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919674" y="3699510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SmartFlow AI não trata segurança como uma camada posterior ela está embutida na arquitetura desde o primeiro commit.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00" y="5254466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247442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Criptografia com FERNET_KEY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1530906" y="6127671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sensíveis dos leads criptografados em trânsito e em repouso.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0903" y="5254466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73008" y="5247442"/>
            <a:ext cx="31486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Isolamento de Serviços</a:t>
            </a:r>
            <a:endParaRPr lang="en-US" sz="2300" dirty="0"/>
          </a:p>
        </p:txBody>
      </p:sp>
      <p:sp>
        <p:nvSpPr>
          <p:cNvPr id="10" name="Text 5"/>
          <p:cNvSpPr/>
          <p:nvPr/>
        </p:nvSpPr>
        <p:spPr>
          <a:xfrm>
            <a:off x="5973008" y="575560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Falha no painel Flask não compromete o motor de IA FastAPI.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3006" y="5254466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415111" y="5247442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Supabase Row-Level Security</a:t>
            </a:r>
            <a:endParaRPr lang="en-US" sz="2300" dirty="0"/>
          </a:p>
        </p:txBody>
      </p:sp>
      <p:sp>
        <p:nvSpPr>
          <p:cNvPr id="13" name="Text 7"/>
          <p:cNvSpPr/>
          <p:nvPr/>
        </p:nvSpPr>
        <p:spPr>
          <a:xfrm>
            <a:off x="10415111" y="6127671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de acesso granular diretamente no banco de dados PostgreSQL.</a:t>
            </a:r>
            <a:endParaRPr lang="en-US" sz="1750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7B3F625-B224-0BA0-7F7D-325A7A9EA094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40663"/>
            <a:ext cx="9586555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 Que SmartFlow AI Vence a Concorrência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511618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511618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591997"/>
            <a:ext cx="268438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 Posicionamento Único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543205" y="4032528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SmartFlow AI ocupa o espaço entre o </a:t>
            </a: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inviável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atendimento humano escalado e a </a:t>
            </a:r>
            <a:r>
              <a:rPr lang="en-US" sz="14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experiência ruim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dos bots de menu.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681657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LangChain + LLM como núcleo, entregamos </a:t>
            </a:r>
            <a:r>
              <a:rPr lang="en-US" sz="140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real</a:t>
            </a: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um produto SaaS acessível, com arquitetura técnica preparada para múltiplos clientes simultâneos.</a:t>
            </a:r>
            <a:endParaRPr lang="en-US" sz="1400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A8E545C-1AC8-9864-8115-9C2E01F84D82}"/>
              </a:ext>
            </a:extLst>
          </p:cNvPr>
          <p:cNvSpPr/>
          <p:nvPr/>
        </p:nvSpPr>
        <p:spPr>
          <a:xfrm>
            <a:off x="12634332" y="7750098"/>
            <a:ext cx="1888503" cy="386395"/>
          </a:xfrm>
          <a:prstGeom prst="rect">
            <a:avLst/>
          </a:prstGeom>
          <a:solidFill>
            <a:srgbClr val="0D0727"/>
          </a:solidFill>
          <a:ln>
            <a:solidFill>
              <a:srgbClr val="0E07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758" y="666750"/>
            <a:ext cx="7680484" cy="1372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Próximos Passos: De MVP a Produto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31758" y="2327910"/>
            <a:ext cx="3743801" cy="2206704"/>
          </a:xfrm>
          <a:prstGeom prst="roundRect">
            <a:avLst>
              <a:gd name="adj" fmla="val 398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8452" y="2544604"/>
            <a:ext cx="298144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🚀</a:t>
            </a: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Deploy em Produção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48452" y="3010853"/>
            <a:ext cx="331041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Subir ambos os servidores para nuvem, SSL e monitoramento ativo.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8322" y="2327910"/>
            <a:ext cx="3743920" cy="2206704"/>
          </a:xfrm>
          <a:prstGeom prst="roundRect">
            <a:avLst>
              <a:gd name="adj" fmla="val 398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85015" y="2544604"/>
            <a:ext cx="3310533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🧪</a:t>
            </a: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Piloto com Cliente Real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885015" y="3353872"/>
            <a:ext cx="3310533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o produto com um cliente beta, medir retenção e satisfação de atendimento.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758" y="4727377"/>
            <a:ext cx="7680484" cy="1542336"/>
          </a:xfrm>
          <a:prstGeom prst="roundRect">
            <a:avLst>
              <a:gd name="adj" fmla="val 5694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8452" y="4944070"/>
            <a:ext cx="274451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📈</a:t>
            </a:r>
            <a:r>
              <a:rPr lang="en-US" sz="2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Tração e Escala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48452" y="5410319"/>
            <a:ext cx="724709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feedback , abrir para primeiros clientes pagantes e iterar o roadmap de multimodalidade.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45369" y="6703338"/>
            <a:ext cx="736687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SmartFlow AI não é apenas um bot, é a infraestrutura de atendimento inteligente que todo negócio digital vai precisar.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758" y="6486525"/>
            <a:ext cx="22860" cy="1076325"/>
          </a:xfrm>
          <a:prstGeom prst="rect">
            <a:avLst/>
          </a:prstGeom>
          <a:solidFill>
            <a:srgbClr val="876C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758</Words>
  <Application>Microsoft Office PowerPoint</Application>
  <PresentationFormat>Personalizar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Consolas</vt:lpstr>
      <vt:lpstr>Arial</vt:lpstr>
      <vt:lpstr>Inter</vt:lpstr>
      <vt:lpstr>Petrona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 Machado</dc:creator>
  <cp:lastModifiedBy>Gabriel Machado</cp:lastModifiedBy>
  <cp:revision>2</cp:revision>
  <dcterms:created xsi:type="dcterms:W3CDTF">2026-04-24T00:50:58Z</dcterms:created>
  <dcterms:modified xsi:type="dcterms:W3CDTF">2026-04-24T00:55:34Z</dcterms:modified>
</cp:coreProperties>
</file>